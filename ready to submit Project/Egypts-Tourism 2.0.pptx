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strument Sans Medium" panose="020B0604020202020204" charset="0"/>
      <p:regular r:id="rId17"/>
    </p:embeddedFont>
    <p:embeddedFont>
      <p:font typeface="Open Sans" panose="020F0502020204030204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172C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011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4717" y="664726"/>
            <a:ext cx="582096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Egypt University of Informatics · Data Analysis 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9025" y="1327190"/>
            <a:ext cx="13092351" cy="206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200"/>
              </a:lnSpc>
              <a:buNone/>
            </a:pPr>
            <a:r>
              <a:rPr lang="en-US" sz="12950" dirty="0">
                <a:solidFill>
                  <a:srgbClr val="000000"/>
                </a:solidFill>
                <a:highlight>
                  <a:srgbClr val="F0C552"/>
                </a:highlight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Egypt's Tourism</a:t>
            </a:r>
            <a:endParaRPr lang="en-US" sz="12950" dirty="0"/>
          </a:p>
        </p:txBody>
      </p:sp>
      <p:sp>
        <p:nvSpPr>
          <p:cNvPr id="4" name="Text 2"/>
          <p:cNvSpPr/>
          <p:nvPr/>
        </p:nvSpPr>
        <p:spPr>
          <a:xfrm>
            <a:off x="1821656" y="3706416"/>
            <a:ext cx="10986968" cy="137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800"/>
              </a:lnSpc>
              <a:buNone/>
            </a:pPr>
            <a:r>
              <a:rPr lang="en-US" sz="8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 Fire</a:t>
            </a:r>
            <a:endParaRPr lang="en-US" sz="8650" dirty="0"/>
          </a:p>
        </p:txBody>
      </p:sp>
      <p:sp>
        <p:nvSpPr>
          <p:cNvPr id="5" name="Text 3"/>
          <p:cNvSpPr/>
          <p:nvPr/>
        </p:nvSpPr>
        <p:spPr>
          <a:xfrm>
            <a:off x="1035487" y="5399008"/>
            <a:ext cx="12559427" cy="54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Measuring the Impact of Crises on Visitor Arrivals (1995–2019)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769025" y="6322338"/>
            <a:ext cx="13092351" cy="16431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69025" y="6633091"/>
            <a:ext cx="130923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AA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Mostafa Elnagar · Yousef Eslam · Ahmed Samy · Adham Shams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9025" y="7218640"/>
            <a:ext cx="130923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Egypt University of Informatics | Data Analysis Course</a:t>
            </a: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EBA9A9-8552-F858-487C-211624054C5F}"/>
              </a:ext>
            </a:extLst>
          </p:cNvPr>
          <p:cNvSpPr/>
          <p:nvPr/>
        </p:nvSpPr>
        <p:spPr>
          <a:xfrm>
            <a:off x="12528000" y="7564755"/>
            <a:ext cx="2008800" cy="58158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2228" y="603766"/>
            <a:ext cx="2131100" cy="348853"/>
          </a:xfrm>
          <a:prstGeom prst="roundRect">
            <a:avLst>
              <a:gd name="adj" fmla="val 6705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148" y="700207"/>
            <a:ext cx="155853" cy="1558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2867" y="662226"/>
            <a:ext cx="166354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2228" y="1019532"/>
            <a:ext cx="752879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 We Set Out to Solve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74527" y="2068235"/>
            <a:ext cx="129736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"Egypt earns billions from tourism — but one crisis can erase years of growth overnight."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2228" y="1879878"/>
            <a:ext cx="22860" cy="666631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682228" y="2734866"/>
            <a:ext cx="1326594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study examines 25 years of inbound tourism data to understand how political upheaval, security incidents, and economic shocks have shaped Egypt's visitor arrivals — and what the numbers truly reveal.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2228" y="3503057"/>
            <a:ext cx="6549271" cy="1977628"/>
          </a:xfrm>
          <a:prstGeom prst="roundRect">
            <a:avLst>
              <a:gd name="adj" fmla="val 1479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705088" y="3525917"/>
            <a:ext cx="6503551" cy="584716"/>
          </a:xfrm>
          <a:prstGeom prst="roundRect">
            <a:avLst>
              <a:gd name="adj" fmla="val 309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3810714" y="3635573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899993" y="4278035"/>
            <a:ext cx="282487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Biggest Single-Year Drop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99993" y="4683085"/>
            <a:ext cx="6113740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crisis caused the most severe collapse in visitor arrivals in a single calendar year?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98901" y="3503057"/>
            <a:ext cx="6549271" cy="1977628"/>
          </a:xfrm>
          <a:prstGeom prst="roundRect">
            <a:avLst>
              <a:gd name="adj" fmla="val 1479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2"/>
          <p:cNvSpPr/>
          <p:nvPr/>
        </p:nvSpPr>
        <p:spPr>
          <a:xfrm>
            <a:off x="7421761" y="3525917"/>
            <a:ext cx="6503551" cy="584716"/>
          </a:xfrm>
          <a:prstGeom prst="roundRect">
            <a:avLst>
              <a:gd name="adj" fmla="val 309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10527387" y="3635573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7616666" y="427803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Recovery Duration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616666" y="4683085"/>
            <a:ext cx="6113740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many years does it take Egypt to return to pre-crisis arrival levels after each major shock?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2228" y="5648087"/>
            <a:ext cx="6549271" cy="1977628"/>
          </a:xfrm>
          <a:prstGeom prst="roundRect">
            <a:avLst>
              <a:gd name="adj" fmla="val 1479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705088" y="5670947"/>
            <a:ext cx="6503551" cy="584716"/>
          </a:xfrm>
          <a:prstGeom prst="roundRect">
            <a:avLst>
              <a:gd name="adj" fmla="val 309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3810714" y="5780603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899993" y="642306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Neighborhood Effect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99993" y="6828115"/>
            <a:ext cx="6113740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 neighboring countries — Morocco, Tunisia, Jordan — experience the same drops at the same time?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398901" y="5648087"/>
            <a:ext cx="6549271" cy="1977628"/>
          </a:xfrm>
          <a:prstGeom prst="roundRect">
            <a:avLst>
              <a:gd name="adj" fmla="val 1479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2"/>
          <p:cNvSpPr/>
          <p:nvPr/>
        </p:nvSpPr>
        <p:spPr>
          <a:xfrm>
            <a:off x="7421761" y="5670947"/>
            <a:ext cx="6503551" cy="584716"/>
          </a:xfrm>
          <a:prstGeom prst="roundRect">
            <a:avLst>
              <a:gd name="adj" fmla="val 309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3"/>
          <p:cNvSpPr/>
          <p:nvPr/>
        </p:nvSpPr>
        <p:spPr>
          <a:xfrm>
            <a:off x="10527387" y="5780603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300" dirty="0"/>
          </a:p>
        </p:txBody>
      </p:sp>
      <p:sp>
        <p:nvSpPr>
          <p:cNvPr id="27" name="Text 24"/>
          <p:cNvSpPr/>
          <p:nvPr/>
        </p:nvSpPr>
        <p:spPr>
          <a:xfrm>
            <a:off x="7616666" y="6423065"/>
            <a:ext cx="257270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Statistical Significance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7616666" y="6828115"/>
            <a:ext cx="6113740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Are the observed drops statistically significant, or could they be explained by normal year-to-year variation?</a:t>
            </a:r>
            <a:endParaRPr lang="en-US" sz="15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0EFC57-E800-5AB7-AFFD-1EDBA9174322}"/>
              </a:ext>
            </a:extLst>
          </p:cNvPr>
          <p:cNvSpPr/>
          <p:nvPr/>
        </p:nvSpPr>
        <p:spPr>
          <a:xfrm>
            <a:off x="12528000" y="7726203"/>
            <a:ext cx="2008800" cy="42013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628" y="534948"/>
            <a:ext cx="2178844" cy="347543"/>
          </a:xfrm>
          <a:prstGeom prst="roundRect">
            <a:avLst>
              <a:gd name="adj" fmla="val 6486"/>
            </a:avLst>
          </a:prstGeom>
          <a:noFill/>
          <a:ln w="7620">
            <a:solidFill>
              <a:srgbClr val="F5F54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881" y="633532"/>
            <a:ext cx="150257" cy="1502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0267" y="598884"/>
            <a:ext cx="1712952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&amp; METHODOLOGY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34628" y="944642"/>
            <a:ext cx="5645348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We Built the Analysis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834628" y="1939766"/>
            <a:ext cx="3383399" cy="2243614"/>
          </a:xfrm>
          <a:prstGeom prst="roundRect">
            <a:avLst>
              <a:gd name="adj" fmla="val 4891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1768" y="1939766"/>
            <a:ext cx="91440" cy="2243614"/>
          </a:xfrm>
          <a:prstGeom prst="roundRect">
            <a:avLst>
              <a:gd name="adj" fmla="val 30814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1113830" y="2150388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Source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13830" y="2599373"/>
            <a:ext cx="2893576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World Bank indicator </a:t>
            </a:r>
            <a:r>
              <a:rPr lang="en-US" sz="14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ST.INT.ARVL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annual inbound tourist arrivals, a globally standardized and peer-reviewed dataset.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73523" y="1939766"/>
            <a:ext cx="3383399" cy="2243614"/>
          </a:xfrm>
          <a:prstGeom prst="roundRect">
            <a:avLst>
              <a:gd name="adj" fmla="val 4891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4350663" y="1939766"/>
            <a:ext cx="91440" cy="2243614"/>
          </a:xfrm>
          <a:prstGeom prst="roundRect">
            <a:avLst>
              <a:gd name="adj" fmla="val 30814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4652724" y="2150388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Countries &amp; Period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52724" y="2599373"/>
            <a:ext cx="2893576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Egypt, Morocco, Tunisia, Jordan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covering 1995 to 2019. That's </a:t>
            </a:r>
            <a:r>
              <a:rPr lang="en-US" sz="1450" b="1" dirty="0">
                <a:solidFill>
                  <a:srgbClr val="FAA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years × 4 countries = 100 data points.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34628" y="4338876"/>
            <a:ext cx="3383399" cy="1968937"/>
          </a:xfrm>
          <a:prstGeom prst="roundRect">
            <a:avLst>
              <a:gd name="adj" fmla="val 5573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2"/>
          <p:cNvSpPr/>
          <p:nvPr/>
        </p:nvSpPr>
        <p:spPr>
          <a:xfrm>
            <a:off x="811768" y="4338876"/>
            <a:ext cx="91440" cy="1968937"/>
          </a:xfrm>
          <a:prstGeom prst="roundRect">
            <a:avLst>
              <a:gd name="adj" fmla="val 30814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1113830" y="454949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Transformation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13830" y="4998482"/>
            <a:ext cx="2893576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Reshaped from wide to long format using </a:t>
            </a:r>
            <a:r>
              <a:rPr lang="en-US" sz="14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pd.melt()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Year-over-year percentage change computed via </a:t>
            </a:r>
            <a:r>
              <a:rPr lang="en-US" sz="14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pct_change()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373523" y="4338876"/>
            <a:ext cx="3383399" cy="1968937"/>
          </a:xfrm>
          <a:prstGeom prst="roundRect">
            <a:avLst>
              <a:gd name="adj" fmla="val 5573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6"/>
          <p:cNvSpPr/>
          <p:nvPr/>
        </p:nvSpPr>
        <p:spPr>
          <a:xfrm>
            <a:off x="4350663" y="4338876"/>
            <a:ext cx="91440" cy="1968937"/>
          </a:xfrm>
          <a:prstGeom prst="roundRect">
            <a:avLst>
              <a:gd name="adj" fmla="val 30814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7"/>
          <p:cNvSpPr/>
          <p:nvPr/>
        </p:nvSpPr>
        <p:spPr>
          <a:xfrm>
            <a:off x="4652724" y="454949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Statistical Test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652724" y="4998482"/>
            <a:ext cx="2893576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Independent two-sample </a:t>
            </a:r>
            <a:r>
              <a:rPr lang="en-US" sz="14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t-test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 </a:t>
            </a:r>
            <a:r>
              <a:rPr lang="en-US" sz="14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scipy.stats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comparing stable years vs. turbulent years (2011, 2013, 2014, 2016).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8087439" y="1764863"/>
            <a:ext cx="5850969" cy="4717852"/>
          </a:xfrm>
          <a:prstGeom prst="roundRect">
            <a:avLst>
              <a:gd name="adj" fmla="val 597"/>
            </a:avLst>
          </a:prstGeom>
          <a:solidFill>
            <a:srgbClr val="3A3A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0"/>
          <p:cNvSpPr/>
          <p:nvPr/>
        </p:nvSpPr>
        <p:spPr>
          <a:xfrm>
            <a:off x="8275201" y="1920359"/>
            <a:ext cx="264926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0C55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Turbulent Years Flagged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275201" y="2369344"/>
            <a:ext cx="5475446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EE6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following years were identified as crisis years based on documented geopolitical and security events: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8275201" y="3093601"/>
            <a:ext cx="5475446" cy="985480"/>
          </a:xfrm>
          <a:prstGeom prst="roundRect">
            <a:avLst>
              <a:gd name="adj" fmla="val 2859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963" y="3369707"/>
            <a:ext cx="234791" cy="18776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885515" y="3296007"/>
            <a:ext cx="4677370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Turbulent years were selected based on documented events — a limitation discussed in Slide 10.</a:t>
            </a:r>
            <a:endParaRPr lang="en-US" sz="1450" dirty="0"/>
          </a:p>
        </p:txBody>
      </p:sp>
      <p:sp>
        <p:nvSpPr>
          <p:cNvPr id="28" name="Shape 24"/>
          <p:cNvSpPr/>
          <p:nvPr/>
        </p:nvSpPr>
        <p:spPr>
          <a:xfrm>
            <a:off x="834628" y="6657618"/>
            <a:ext cx="3123605" cy="1036915"/>
          </a:xfrm>
          <a:prstGeom prst="roundRect">
            <a:avLst>
              <a:gd name="adj" fmla="val 271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5"/>
          <p:cNvSpPr/>
          <p:nvPr/>
        </p:nvSpPr>
        <p:spPr>
          <a:xfrm>
            <a:off x="1022390" y="684537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2011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1022390" y="7232094"/>
            <a:ext cx="274808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Arab Spring Revolution</a:t>
            </a:r>
            <a:endParaRPr lang="en-US" sz="1450" dirty="0"/>
          </a:p>
        </p:txBody>
      </p:sp>
      <p:sp>
        <p:nvSpPr>
          <p:cNvPr id="31" name="Shape 27"/>
          <p:cNvSpPr/>
          <p:nvPr/>
        </p:nvSpPr>
        <p:spPr>
          <a:xfrm>
            <a:off x="4113728" y="6657618"/>
            <a:ext cx="3123605" cy="1036915"/>
          </a:xfrm>
          <a:prstGeom prst="roundRect">
            <a:avLst>
              <a:gd name="adj" fmla="val 271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28"/>
          <p:cNvSpPr/>
          <p:nvPr/>
        </p:nvSpPr>
        <p:spPr>
          <a:xfrm>
            <a:off x="4301490" y="684537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2013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4301490" y="7232094"/>
            <a:ext cx="274808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Political Instability</a:t>
            </a:r>
            <a:endParaRPr lang="en-US" sz="1450" dirty="0"/>
          </a:p>
        </p:txBody>
      </p:sp>
      <p:sp>
        <p:nvSpPr>
          <p:cNvPr id="34" name="Shape 30"/>
          <p:cNvSpPr/>
          <p:nvPr/>
        </p:nvSpPr>
        <p:spPr>
          <a:xfrm>
            <a:off x="7392829" y="6657618"/>
            <a:ext cx="3123605" cy="1036915"/>
          </a:xfrm>
          <a:prstGeom prst="roundRect">
            <a:avLst>
              <a:gd name="adj" fmla="val 271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Text 31"/>
          <p:cNvSpPr/>
          <p:nvPr/>
        </p:nvSpPr>
        <p:spPr>
          <a:xfrm>
            <a:off x="7580590" y="684537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2014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7580590" y="7232094"/>
            <a:ext cx="274808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Deterioration</a:t>
            </a:r>
            <a:endParaRPr lang="en-US" sz="1450" dirty="0"/>
          </a:p>
        </p:txBody>
      </p:sp>
      <p:sp>
        <p:nvSpPr>
          <p:cNvPr id="37" name="Shape 33"/>
          <p:cNvSpPr/>
          <p:nvPr/>
        </p:nvSpPr>
        <p:spPr>
          <a:xfrm>
            <a:off x="10671929" y="6657618"/>
            <a:ext cx="3123724" cy="1036915"/>
          </a:xfrm>
          <a:prstGeom prst="roundRect">
            <a:avLst>
              <a:gd name="adj" fmla="val 271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8" name="Text 34"/>
          <p:cNvSpPr/>
          <p:nvPr/>
        </p:nvSpPr>
        <p:spPr>
          <a:xfrm>
            <a:off x="10859691" y="684537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2016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10859691" y="7232094"/>
            <a:ext cx="2748201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Sinai Plane Crash</a:t>
            </a:r>
            <a:endParaRPr lang="en-US" sz="145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285B7E1-ED24-DD6F-24B1-50DFEC07D717}"/>
              </a:ext>
            </a:extLst>
          </p:cNvPr>
          <p:cNvSpPr/>
          <p:nvPr/>
        </p:nvSpPr>
        <p:spPr>
          <a:xfrm>
            <a:off x="12528000" y="7787759"/>
            <a:ext cx="2008800" cy="358579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794742"/>
            <a:ext cx="1022509" cy="176689"/>
          </a:xfrm>
          <a:prstGeom prst="roundRect">
            <a:avLst>
              <a:gd name="adj" fmla="val 7703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0434" y="837724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828675"/>
            <a:ext cx="750451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EGYPT'S JOURNEY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994053"/>
            <a:ext cx="38611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3M to 14.7M — and Back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1433393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Egypt's inbound tourism grew steadily for 15 years before a series of crises reversed decades of progress. The chart below traces the full arc of arrivals from 1995 through 2019, with key crisis moments annotated.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1769269"/>
            <a:ext cx="7825502" cy="369558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02449" y="6215182"/>
            <a:ext cx="3884414" cy="581501"/>
          </a:xfrm>
          <a:prstGeom prst="roundRect">
            <a:avLst>
              <a:gd name="adj" fmla="val 2926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>
            <a:off x="3515797" y="6328529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🏆</a:t>
            </a: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2010 Peak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515797" y="6547247"/>
            <a:ext cx="36577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14.7M arrivals</a:t>
            </a: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Egypt's all-time high before the revolution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7343537" y="6215182"/>
            <a:ext cx="3884414" cy="581501"/>
          </a:xfrm>
          <a:prstGeom prst="roundRect">
            <a:avLst>
              <a:gd name="adj" fmla="val 2926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8"/>
          <p:cNvSpPr/>
          <p:nvPr/>
        </p:nvSpPr>
        <p:spPr>
          <a:xfrm>
            <a:off x="7456884" y="6328529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⚡</a:t>
            </a: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2011 Arab Spring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456884" y="6547247"/>
            <a:ext cx="36577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Arrivals collapsed to </a:t>
            </a:r>
            <a:r>
              <a:rPr lang="en-US" sz="8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9.84M</a:t>
            </a: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−33.2% single-year drop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402449" y="6853357"/>
            <a:ext cx="3884414" cy="581501"/>
          </a:xfrm>
          <a:prstGeom prst="roundRect">
            <a:avLst>
              <a:gd name="adj" fmla="val 2926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1"/>
          <p:cNvSpPr/>
          <p:nvPr/>
        </p:nvSpPr>
        <p:spPr>
          <a:xfrm>
            <a:off x="3515797" y="6966704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💥</a:t>
            </a: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2016 Sinai Crash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15797" y="7185422"/>
            <a:ext cx="36577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Deepest trough at </a:t>
            </a:r>
            <a:r>
              <a:rPr lang="en-US" sz="8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5.41M</a:t>
            </a: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worst year in two decades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343537" y="6853357"/>
            <a:ext cx="3884414" cy="581501"/>
          </a:xfrm>
          <a:prstGeom prst="roundRect">
            <a:avLst>
              <a:gd name="adj" fmla="val 2926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4"/>
          <p:cNvSpPr/>
          <p:nvPr/>
        </p:nvSpPr>
        <p:spPr>
          <a:xfrm>
            <a:off x="7456884" y="6966704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📈</a:t>
            </a: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2019 Recovery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456884" y="7185422"/>
            <a:ext cx="36577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Climbed back to </a:t>
            </a:r>
            <a:r>
              <a:rPr lang="en-US" sz="8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~13M</a:t>
            </a: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resilience, but not yet at peak</a:t>
            </a:r>
            <a:endParaRPr lang="en-US" sz="8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C06D79-51BE-14A7-1DD2-A45842D22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8105" y="1716286"/>
            <a:ext cx="7819846" cy="449964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61DDA00-B989-4231-BB02-4B22694BD7A2}"/>
              </a:ext>
            </a:extLst>
          </p:cNvPr>
          <p:cNvSpPr/>
          <p:nvPr/>
        </p:nvSpPr>
        <p:spPr>
          <a:xfrm>
            <a:off x="12528000" y="7787759"/>
            <a:ext cx="2008800" cy="358579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2351" y="573524"/>
            <a:ext cx="1939885" cy="340519"/>
          </a:xfrm>
          <a:prstGeom prst="roundRect">
            <a:avLst>
              <a:gd name="adj" fmla="val 6745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27" y="667226"/>
            <a:ext cx="152995" cy="1529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6561" y="630912"/>
            <a:ext cx="1480899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CRISIS COMPARISON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12351" y="978575"/>
            <a:ext cx="10377845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Sinai Crash Hurt More Than the Revolution</a:t>
            </a:r>
            <a:endParaRPr lang="en-US" sz="3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51" y="2000369"/>
            <a:ext cx="7736562" cy="37424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25620" y="2620766"/>
            <a:ext cx="19109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-2.3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597888" y="3724399"/>
            <a:ext cx="23907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-33.2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2311676" y="4828032"/>
            <a:ext cx="23907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-42.1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8785622" y="1818799"/>
            <a:ext cx="5277803" cy="4695587"/>
          </a:xfrm>
          <a:prstGeom prst="roundRect">
            <a:avLst>
              <a:gd name="adj" fmla="val 611"/>
            </a:avLst>
          </a:prstGeom>
          <a:solidFill>
            <a:srgbClr val="3A3A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>
            <a:off x="8976955" y="1980248"/>
            <a:ext cx="319194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0C55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Counterintuitive Finding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8976955" y="2440662"/>
            <a:ext cx="4895136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EE6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people assume the Arab Spring — a full-scale political revolution — would be Egypt's worst tourism disaster. The data tells a different story.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976955" y="3516511"/>
            <a:ext cx="4895136" cy="14288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0"/>
          <p:cNvSpPr/>
          <p:nvPr/>
        </p:nvSpPr>
        <p:spPr>
          <a:xfrm>
            <a:off x="8976955" y="3760113"/>
            <a:ext cx="4895136" cy="1578769"/>
          </a:xfrm>
          <a:prstGeom prst="roundRect">
            <a:avLst>
              <a:gd name="adj" fmla="val 1818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8289" y="4045029"/>
            <a:ext cx="239197" cy="19133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98819" y="3969306"/>
            <a:ext cx="4081939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incidents trigger deeper fear responses than political events — tourists avoid perceived physical danger more than political instability.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89491" y="6673096"/>
            <a:ext cx="45720" cy="1005840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3"/>
          <p:cNvSpPr/>
          <p:nvPr/>
        </p:nvSpPr>
        <p:spPr>
          <a:xfrm>
            <a:off x="949404" y="669595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AA70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−42.1%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949404" y="7091720"/>
            <a:ext cx="4030266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EE6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Sinai Plane Crash 2016 — the single largest drop ever recorded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158621" y="6673096"/>
            <a:ext cx="45720" cy="1005840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6"/>
          <p:cNvSpPr/>
          <p:nvPr/>
        </p:nvSpPr>
        <p:spPr>
          <a:xfrm>
            <a:off x="5418534" y="669595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0C55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−33.2%</a:t>
            </a:r>
            <a:endParaRPr lang="en-US" sz="1850" dirty="0"/>
          </a:p>
        </p:txBody>
      </p:sp>
      <p:sp>
        <p:nvSpPr>
          <p:cNvPr id="22" name="Text 17"/>
          <p:cNvSpPr/>
          <p:nvPr/>
        </p:nvSpPr>
        <p:spPr>
          <a:xfrm>
            <a:off x="5418534" y="7091720"/>
            <a:ext cx="4030266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EE6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Arab Spring 2011 — devastating, but second place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9627751" y="6673096"/>
            <a:ext cx="45720" cy="1005840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19"/>
          <p:cNvSpPr/>
          <p:nvPr/>
        </p:nvSpPr>
        <p:spPr>
          <a:xfrm>
            <a:off x="9887664" y="669595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EE6E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−2.3%</a:t>
            </a:r>
            <a:endParaRPr lang="en-US" sz="1850" dirty="0"/>
          </a:p>
        </p:txBody>
      </p:sp>
      <p:sp>
        <p:nvSpPr>
          <p:cNvPr id="25" name="Text 20"/>
          <p:cNvSpPr/>
          <p:nvPr/>
        </p:nvSpPr>
        <p:spPr>
          <a:xfrm>
            <a:off x="9887664" y="7091720"/>
            <a:ext cx="4030266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EE6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2008 Financial Crisis — barely a blip by comparison</a:t>
            </a:r>
            <a:endParaRPr lang="en-US" sz="15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4C29AB-F836-3774-8D94-313778219864}"/>
              </a:ext>
            </a:extLst>
          </p:cNvPr>
          <p:cNvSpPr/>
          <p:nvPr/>
        </p:nvSpPr>
        <p:spPr>
          <a:xfrm>
            <a:off x="12528000" y="7787759"/>
            <a:ext cx="2008800" cy="358579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705564"/>
            <a:ext cx="1157049" cy="191929"/>
          </a:xfrm>
          <a:prstGeom prst="roundRect">
            <a:avLst>
              <a:gd name="adj" fmla="val 7091"/>
            </a:avLst>
          </a:prstGeom>
          <a:noFill/>
          <a:ln w="7620">
            <a:solidFill>
              <a:srgbClr val="F5F54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8054" y="75616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4142" y="747117"/>
            <a:ext cx="869752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ANALYSIS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920115"/>
            <a:ext cx="36767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 Everyone Falls Together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1359456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Comparing Egypt against its North African and Middle Eastern neighbors reveals a striking divergence: crisis impact is </a:t>
            </a:r>
            <a:r>
              <a:rPr lang="en-US" sz="8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country-specific</a:t>
            </a: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a regional phenomenon. Morocco's trajectory in 2011 is the clearest proof.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1695331"/>
            <a:ext cx="7825502" cy="44292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387209" y="6141244"/>
            <a:ext cx="3907750" cy="30480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>
            <a:off x="3402449" y="6285071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🇪🇬</a:t>
            </a: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Egypt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02449" y="6503789"/>
            <a:ext cx="387727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catastrophic drops in 2011 and 2016 — the most volatile trajectory of all four countries studied.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7335322" y="6141244"/>
            <a:ext cx="3907869" cy="30480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8"/>
          <p:cNvSpPr/>
          <p:nvPr/>
        </p:nvSpPr>
        <p:spPr>
          <a:xfrm>
            <a:off x="7350562" y="6285071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🇲🇦</a:t>
            </a: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Morocco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50562" y="6503789"/>
            <a:ext cx="387738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0C55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Kept growing through 2011</a:t>
            </a: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political stability and geographic distance from the Arab Spring epicenter shielded it completely.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87209" y="6889313"/>
            <a:ext cx="3907750" cy="30480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1"/>
          <p:cNvSpPr/>
          <p:nvPr/>
        </p:nvSpPr>
        <p:spPr>
          <a:xfrm>
            <a:off x="3402449" y="7033141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🇹🇳</a:t>
            </a: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Tunisia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02449" y="7251859"/>
            <a:ext cx="387727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Collapsed in 2011 alongside Egypt — as a direct Arab Spring country, it suffered similarly severe drops.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335322" y="6889313"/>
            <a:ext cx="3907869" cy="30480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4"/>
          <p:cNvSpPr/>
          <p:nvPr/>
        </p:nvSpPr>
        <p:spPr>
          <a:xfrm>
            <a:off x="7350562" y="7033141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🇯🇴</a:t>
            </a: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Jordan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350562" y="7251859"/>
            <a:ext cx="387738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 decline in 2011 — partially affected by regional instability but recovered faster than Egypt or Tunisia.</a:t>
            </a:r>
            <a:endParaRPr lang="en-US" sz="8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05AB94-8C15-FBD1-4AA9-B2C7CFF1BE4B}"/>
              </a:ext>
            </a:extLst>
          </p:cNvPr>
          <p:cNvSpPr/>
          <p:nvPr/>
        </p:nvSpPr>
        <p:spPr>
          <a:xfrm>
            <a:off x="12528000" y="7787759"/>
            <a:ext cx="2008800" cy="358579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2846" y="521375"/>
            <a:ext cx="1651159" cy="269319"/>
          </a:xfrm>
          <a:prstGeom prst="roundRect">
            <a:avLst>
              <a:gd name="adj" fmla="val 7106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8453" y="592217"/>
            <a:ext cx="127516" cy="1275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99667" y="569119"/>
            <a:ext cx="12687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STATISTICAL TESTING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12846" y="835462"/>
            <a:ext cx="7787521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Hypothesis Testing: Are the Crashes Real?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1812846" y="1378625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Hypotheses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812846" y="1795820"/>
            <a:ext cx="5446276" cy="1332786"/>
          </a:xfrm>
          <a:prstGeom prst="roundRect">
            <a:avLst>
              <a:gd name="adj" fmla="val 1795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1995130" y="1978104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H₀ — Null Hypothesis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995130" y="2294453"/>
            <a:ext cx="5081707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is </a:t>
            </a:r>
            <a:r>
              <a:rPr lang="en-US" sz="12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real difference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average year-over-year growth rate between stable years and turbulent years. Any observed drops are random variation.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71159" y="1795820"/>
            <a:ext cx="5446276" cy="1332786"/>
          </a:xfrm>
          <a:prstGeom prst="roundRect">
            <a:avLst>
              <a:gd name="adj" fmla="val 1795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7553444" y="1978104"/>
            <a:ext cx="2583061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H₁ — Alternative Hypothesis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53444" y="2294453"/>
            <a:ext cx="5081707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</a:t>
            </a:r>
            <a:r>
              <a:rPr lang="en-US" sz="12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 a statistically significant difference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average YoY growth between stable and turbulent years. The crashes are real shocks.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812846" y="3296722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Test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812846" y="3713917"/>
            <a:ext cx="11004590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applied an </a:t>
            </a:r>
            <a:r>
              <a:rPr lang="en-US" sz="12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independent two-sample t-test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using 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scipy.stats.ttest_ind()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comparing the distribution of YoY % changes in stable years versus flagged turbulent years (2011, 2013, 2014, 2016).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18290" y="4316611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F0C55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Results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812846" y="4813459"/>
            <a:ext cx="5432227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3.76</a:t>
            </a:r>
            <a:endParaRPr lang="en-US" sz="4100" dirty="0"/>
          </a:p>
        </p:txBody>
      </p:sp>
      <p:sp>
        <p:nvSpPr>
          <p:cNvPr id="17" name="Text 14"/>
          <p:cNvSpPr/>
          <p:nvPr/>
        </p:nvSpPr>
        <p:spPr>
          <a:xfrm>
            <a:off x="3532108" y="5503426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T-Statistic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812846" y="5819775"/>
            <a:ext cx="54322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CEE6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separation between the two groups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85209" y="4813459"/>
            <a:ext cx="5432227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0.0011</a:t>
            </a:r>
            <a:endParaRPr lang="en-US" sz="4100" dirty="0"/>
          </a:p>
        </p:txBody>
      </p:sp>
      <p:sp>
        <p:nvSpPr>
          <p:cNvPr id="20" name="Text 17"/>
          <p:cNvSpPr/>
          <p:nvPr/>
        </p:nvSpPr>
        <p:spPr>
          <a:xfrm>
            <a:off x="9104471" y="5503426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P-Value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385209" y="5819775"/>
            <a:ext cx="54322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FAA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 below the 0.05 threshold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812846" y="6202918"/>
            <a:ext cx="11004590" cy="11906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Shape 20"/>
          <p:cNvSpPr/>
          <p:nvPr/>
        </p:nvSpPr>
        <p:spPr>
          <a:xfrm>
            <a:off x="1812846" y="6380678"/>
            <a:ext cx="11004590" cy="766882"/>
          </a:xfrm>
          <a:prstGeom prst="roundRect">
            <a:avLst>
              <a:gd name="adj" fmla="val 3120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270" y="6607969"/>
            <a:ext cx="199311" cy="1594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331006" y="6532483"/>
            <a:ext cx="10327005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 &lt; 0.05 → We </a:t>
            </a: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reject H₀</a:t>
            </a: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 drops are NOT random noise — they are statistically proven, mathematically significant shocks to Egypt's tourism system.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812846" y="7273647"/>
            <a:ext cx="11004590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EE6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 English: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If these drops were just normal variation, we'd expect to see a result like this less than 0.11% of the time by chance alone. The crises are real.</a:t>
            </a:r>
            <a:endParaRPr lang="en-US" sz="12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90A576-AD9B-7CAF-65A7-36A3B5904EC1}"/>
              </a:ext>
            </a:extLst>
          </p:cNvPr>
          <p:cNvSpPr/>
          <p:nvPr/>
        </p:nvSpPr>
        <p:spPr>
          <a:xfrm>
            <a:off x="12528000" y="7787759"/>
            <a:ext cx="2008800" cy="358579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460" y="499943"/>
            <a:ext cx="1806773" cy="323493"/>
          </a:xfrm>
          <a:prstGeom prst="roundRect">
            <a:avLst>
              <a:gd name="adj" fmla="val 6574"/>
            </a:avLst>
          </a:prstGeom>
          <a:noFill/>
          <a:ln w="7620">
            <a:solidFill>
              <a:srgbClr val="F5F54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403" y="590788"/>
            <a:ext cx="141684" cy="141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7929" y="560665"/>
            <a:ext cx="1366361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RECOVERY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1460" y="878800"/>
            <a:ext cx="985170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Egypt Always Bounces Back — But It Takes Years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1201460" y="1640205"/>
            <a:ext cx="122273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Recovery speed is not uniform. The nature of the crisis — economic vs. security-driven — fundamentally determines how long it takes for tourist confidence to return.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460" y="2456498"/>
            <a:ext cx="6530459" cy="42356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1778" y="3184527"/>
            <a:ext cx="1288216" cy="21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2008 Crisis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461778" y="3455091"/>
            <a:ext cx="1288216" cy="45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Minor blip — recovered within 1 year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761363" y="5184258"/>
            <a:ext cx="1288216" cy="21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Sinai Crash 2016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761363" y="5454821"/>
            <a:ext cx="1288216" cy="45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damage — still recovering by 2019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180244" y="4052973"/>
            <a:ext cx="1288216" cy="42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Arab Spring 2011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180244" y="4534182"/>
            <a:ext cx="1288216" cy="30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shock — ~4+ years to recover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201460" y="6847880"/>
            <a:ext cx="6530459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pattern is clear: </a:t>
            </a:r>
            <a:r>
              <a:rPr lang="en-US" sz="1350" dirty="0">
                <a:solidFill>
                  <a:srgbClr val="000000"/>
                </a:solidFill>
                <a:highlight>
                  <a:srgbClr val="F0C55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events cause deeper, longer damage than economic ones.</a:t>
            </a: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Tourists can rationalize economic downturns, but perceived physical danger triggers lasting behavioral change.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71736" y="2762250"/>
            <a:ext cx="398621" cy="398621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8173" y="2828687"/>
            <a:ext cx="265748" cy="2657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08708" y="282309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2008 Financial Crisis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708708" y="3238262"/>
            <a:ext cx="472761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Recovered within </a:t>
            </a:r>
            <a:r>
              <a:rPr lang="en-US" sz="1350" b="1" dirty="0">
                <a:solidFill>
                  <a:srgbClr val="FAA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year</a:t>
            </a: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 −2.3% dip followed immediately by a record-breaking 2010. Economic shocks are temporary — tourists return when their wallets recover.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171736" y="4524732"/>
            <a:ext cx="398621" cy="398621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8173" y="4591169"/>
            <a:ext cx="265748" cy="2657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08708" y="4585573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Arab Spring (2011)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708708" y="5000744"/>
            <a:ext cx="4727615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Required </a:t>
            </a:r>
            <a:r>
              <a:rPr lang="en-US" sz="1350" b="1" dirty="0">
                <a:solidFill>
                  <a:srgbClr val="FAA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4+ years</a:t>
            </a: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approach pre-crisis levels. Political instability creates prolonged uncertainty, but the destination's appeal eventually wins back visitors.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8171736" y="6034802"/>
            <a:ext cx="398621" cy="398621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173" y="6101239"/>
            <a:ext cx="265748" cy="2657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08708" y="6095643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Sinai Crash (2016)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708708" y="6510814"/>
            <a:ext cx="4727615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Still recovering by 2019 — </a:t>
            </a:r>
            <a:r>
              <a:rPr lang="en-US" sz="1350" b="1" dirty="0">
                <a:solidFill>
                  <a:srgbClr val="FAA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3+ years and counting</a:t>
            </a: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Aviation bans from Russia and the UK compounded the damage, making this the slowest recovery on record.</a:t>
            </a:r>
            <a:endParaRPr lang="en-US" sz="13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C8883C-0979-0413-2FF2-FB222356214D}"/>
              </a:ext>
            </a:extLst>
          </p:cNvPr>
          <p:cNvSpPr/>
          <p:nvPr/>
        </p:nvSpPr>
        <p:spPr>
          <a:xfrm>
            <a:off x="12528000" y="7787759"/>
            <a:ext cx="2008800" cy="358579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611" y="628055"/>
            <a:ext cx="1518642" cy="357307"/>
          </a:xfrm>
          <a:prstGeom prst="roundRect">
            <a:avLst>
              <a:gd name="adj" fmla="val 6666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673" y="727353"/>
            <a:ext cx="158710" cy="15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679" y="687586"/>
            <a:ext cx="104251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4611" y="1054775"/>
            <a:ext cx="517969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the Data Tells Us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94611" y="1935242"/>
            <a:ext cx="132411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analyzing 25 years of inbound tourism data across four countries, four major findings emerge — some expected, some deeply counterintuitive.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4611" y="2725817"/>
            <a:ext cx="13241179" cy="3606641"/>
          </a:xfrm>
          <a:prstGeom prst="roundRect">
            <a:avLst>
              <a:gd name="adj" fmla="val 825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694611" y="2725817"/>
            <a:ext cx="6620589" cy="1952149"/>
          </a:xfrm>
          <a:prstGeom prst="roundRect">
            <a:avLst>
              <a:gd name="adj" fmla="val 1525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868204" y="2899410"/>
            <a:ext cx="329255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Finding 1: Sinai &gt; Arab Spring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868204" y="3313748"/>
            <a:ext cx="6012894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Sinai Plane Crash (−42.1%) caused a larger single-year drop than the Arab Spring Revolution (−33.2%). Security fear outweighs political instability in tourist decision-making.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315200" y="2725817"/>
            <a:ext cx="6620589" cy="1952149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7315200" y="2725817"/>
            <a:ext cx="22860" cy="1952149"/>
          </a:xfrm>
          <a:prstGeom prst="roundRect">
            <a:avLst>
              <a:gd name="adj" fmla="val 130232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7749302" y="2899410"/>
            <a:ext cx="40678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Finding 2: Crisis Is Country-Specific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749302" y="3313748"/>
            <a:ext cx="6012894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Morocco grew in 2011 while Egypt and Tunisia collapsed. Regional proximity does not equal shared vulnerability — governance, stability, and perception matter more than geography.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7067193" y="3453825"/>
            <a:ext cx="496133" cy="496133"/>
          </a:xfrm>
          <a:prstGeom prst="roundRect">
            <a:avLst>
              <a:gd name="adj" fmla="val 6001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1256" y="3577769"/>
            <a:ext cx="248007" cy="248007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94611" y="4677966"/>
            <a:ext cx="6620589" cy="1654493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Shape 14"/>
          <p:cNvSpPr/>
          <p:nvPr/>
        </p:nvSpPr>
        <p:spPr>
          <a:xfrm>
            <a:off x="694611" y="4677966"/>
            <a:ext cx="6620589" cy="22860"/>
          </a:xfrm>
          <a:prstGeom prst="roundRect">
            <a:avLst>
              <a:gd name="adj" fmla="val 130232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5"/>
          <p:cNvSpPr/>
          <p:nvPr/>
        </p:nvSpPr>
        <p:spPr>
          <a:xfrm>
            <a:off x="868204" y="4851559"/>
            <a:ext cx="38272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Finding 3: Mathematically Proven</a:t>
            </a:r>
            <a:endParaRPr lang="en-US" sz="1950" dirty="0"/>
          </a:p>
        </p:txBody>
      </p:sp>
      <p:sp>
        <p:nvSpPr>
          <p:cNvPr id="20" name="Text 16"/>
          <p:cNvSpPr/>
          <p:nvPr/>
        </p:nvSpPr>
        <p:spPr>
          <a:xfrm>
            <a:off x="868204" y="5265896"/>
            <a:ext cx="6012894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 = 0.0011 — the crisis drops are not random noise. The t-test confirms with 99.89% confidence that turbulent years are statistically distinct from stable years.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7315200" y="4677966"/>
            <a:ext cx="6620589" cy="1654493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Shape 18"/>
          <p:cNvSpPr/>
          <p:nvPr/>
        </p:nvSpPr>
        <p:spPr>
          <a:xfrm>
            <a:off x="7315200" y="4677966"/>
            <a:ext cx="22860" cy="1654493"/>
          </a:xfrm>
          <a:prstGeom prst="roundRect">
            <a:avLst>
              <a:gd name="adj" fmla="val 130232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Shape 19"/>
          <p:cNvSpPr/>
          <p:nvPr/>
        </p:nvSpPr>
        <p:spPr>
          <a:xfrm>
            <a:off x="7315200" y="4677966"/>
            <a:ext cx="6620589" cy="22860"/>
          </a:xfrm>
          <a:prstGeom prst="roundRect">
            <a:avLst>
              <a:gd name="adj" fmla="val 130232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0"/>
          <p:cNvSpPr/>
          <p:nvPr/>
        </p:nvSpPr>
        <p:spPr>
          <a:xfrm>
            <a:off x="7749302" y="4851559"/>
            <a:ext cx="36995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Finding 4: Resilience Takes Time</a:t>
            </a:r>
            <a:endParaRPr lang="en-US" sz="1950" dirty="0"/>
          </a:p>
        </p:txBody>
      </p:sp>
      <p:sp>
        <p:nvSpPr>
          <p:cNvPr id="25" name="Text 21"/>
          <p:cNvSpPr/>
          <p:nvPr/>
        </p:nvSpPr>
        <p:spPr>
          <a:xfrm>
            <a:off x="7749302" y="5265896"/>
            <a:ext cx="6012894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Egypt always recovers — but major security shocks require 3–5 years per event. Economic crises heal in under a year. The type of crisis determines the length of the wound.</a:t>
            </a:r>
            <a:endParaRPr lang="en-US" sz="1550" dirty="0"/>
          </a:p>
        </p:txBody>
      </p:sp>
      <p:sp>
        <p:nvSpPr>
          <p:cNvPr id="26" name="Shape 22"/>
          <p:cNvSpPr/>
          <p:nvPr/>
        </p:nvSpPr>
        <p:spPr>
          <a:xfrm>
            <a:off x="7067193" y="5257145"/>
            <a:ext cx="496133" cy="496133"/>
          </a:xfrm>
          <a:prstGeom prst="roundRect">
            <a:avLst>
              <a:gd name="adj" fmla="val 6001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256" y="5381089"/>
            <a:ext cx="248007" cy="248007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94611" y="6527721"/>
            <a:ext cx="13241179" cy="1073825"/>
          </a:xfrm>
          <a:prstGeom prst="roundRect">
            <a:avLst>
              <a:gd name="adj" fmla="val 2772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69" y="6822996"/>
            <a:ext cx="248007" cy="19835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39334" y="6750844"/>
            <a:ext cx="1239809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findings have direct policy implications: Egypt's tourism ministry should prioritize security perception management and aviation partnerships as the fastest levers for recovery acceleration.</a:t>
            </a:r>
            <a:endParaRPr lang="en-US" sz="15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6BAFD5-33CE-8686-432E-8DC52D5FB9AD}"/>
              </a:ext>
            </a:extLst>
          </p:cNvPr>
          <p:cNvSpPr/>
          <p:nvPr/>
        </p:nvSpPr>
        <p:spPr>
          <a:xfrm>
            <a:off x="12528000" y="7787759"/>
            <a:ext cx="2008800" cy="358579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57400" y="482679"/>
            <a:ext cx="2113359" cy="269677"/>
          </a:xfrm>
          <a:prstGeom prst="roundRect">
            <a:avLst>
              <a:gd name="adj" fmla="val 6781"/>
            </a:avLst>
          </a:prstGeom>
          <a:noFill/>
          <a:ln w="7620">
            <a:solidFill>
              <a:srgbClr val="F5F54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6460" y="556498"/>
            <a:ext cx="121920" cy="12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9340" y="536019"/>
            <a:ext cx="1732359" cy="16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LIMITATIONS &amp; FUTURE WORK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2057400" y="793313"/>
            <a:ext cx="832187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We Couldn't Do — and What Comes Next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57400" y="1525548"/>
            <a:ext cx="199715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⚠️</a:t>
            </a:r>
            <a:r>
              <a:rPr lang="en-US" sz="1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Current Limitations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057400" y="1878806"/>
            <a:ext cx="5071943" cy="1302544"/>
          </a:xfrm>
          <a:prstGeom prst="roundRect">
            <a:avLst>
              <a:gd name="adj" fmla="val 8424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2034540" y="1878806"/>
            <a:ext cx="91440" cy="1302544"/>
          </a:xfrm>
          <a:prstGeom prst="roundRect">
            <a:avLst>
              <a:gd name="adj" fmla="val 25000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2301240" y="2054066"/>
            <a:ext cx="212181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Annual Data Granularity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301240" y="2394585"/>
            <a:ext cx="4652843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used annual figures only. Monthly data would allow us to pinpoint the exact timing of each shock and measure how quickly the market reacted in real time.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57400" y="3283744"/>
            <a:ext cx="5071943" cy="1302544"/>
          </a:xfrm>
          <a:prstGeom prst="roundRect">
            <a:avLst>
              <a:gd name="adj" fmla="val 8424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2034540" y="3283744"/>
            <a:ext cx="91440" cy="1302544"/>
          </a:xfrm>
          <a:prstGeom prst="roundRect">
            <a:avLst>
              <a:gd name="adj" fmla="val 25000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2301240" y="3459004"/>
            <a:ext cx="19591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Year Selection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01240" y="3799523"/>
            <a:ext cx="4652843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Turbulent years (2011, 2013, 2014, 2016) were chosen based on known events — introducing potential selection bias. Automated outlier detection would be more rigorous.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057400" y="4688681"/>
            <a:ext cx="5071943" cy="1302544"/>
          </a:xfrm>
          <a:prstGeom prst="roundRect">
            <a:avLst>
              <a:gd name="adj" fmla="val 8424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2034540" y="4688681"/>
            <a:ext cx="91440" cy="1302544"/>
          </a:xfrm>
          <a:prstGeom prst="roundRect">
            <a:avLst>
              <a:gd name="adj" fmla="val 25000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2301240" y="4863941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2019 Data Cutoff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301240" y="5204460"/>
            <a:ext cx="4652843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dataset ends before COVID-19 — almost certainly the largest tourism collapse in modern history. Our findings exclude what may be the most important case study of all.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508677" y="1525548"/>
            <a:ext cx="266985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🔭</a:t>
            </a:r>
            <a:r>
              <a:rPr lang="en-US" sz="1500" dirty="0">
                <a:solidFill>
                  <a:srgbClr val="FAA70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Future Research Directions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508677" y="1878806"/>
            <a:ext cx="304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508677" y="2115026"/>
            <a:ext cx="5071943" cy="22860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7508677" y="2236946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Extend to 2020–2024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508677" y="2577465"/>
            <a:ext cx="5071943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Include the COVID-19 era to quantify the pandemic's impact and compare it against historical crises — likely the most dramatic drop ever recorded.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08677" y="3405664"/>
            <a:ext cx="304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508677" y="3641884"/>
            <a:ext cx="5071943" cy="22860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3"/>
          <p:cNvSpPr/>
          <p:nvPr/>
        </p:nvSpPr>
        <p:spPr>
          <a:xfrm>
            <a:off x="7508677" y="3763804"/>
            <a:ext cx="25741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Outlier Detection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08677" y="4104323"/>
            <a:ext cx="5071943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 manual year flagging with algorithmic methods (e.g., Z-score thresholds, IQR-based detection) to eliminate selection bias entirely.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508677" y="4728686"/>
            <a:ext cx="304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508677" y="4964906"/>
            <a:ext cx="5071943" cy="22860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7"/>
          <p:cNvSpPr/>
          <p:nvPr/>
        </p:nvSpPr>
        <p:spPr>
          <a:xfrm>
            <a:off x="7508677" y="5086826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Revenue Data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508677" y="5427345"/>
            <a:ext cx="5071943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Arrivals tell only half the story. Incorporating tourism revenue data would reveal whether Egypt attracted fewer but higher-spending visitors during recovery phases.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057400" y="6421517"/>
            <a:ext cx="10515600" cy="11430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0"/>
          <p:cNvSpPr/>
          <p:nvPr/>
        </p:nvSpPr>
        <p:spPr>
          <a:xfrm>
            <a:off x="2286000" y="6701314"/>
            <a:ext cx="10287000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"Egypt's tourism is resilient — but preparation matters."</a:t>
            </a: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the past 25 years of shocks is the first step toward building a tourism sector that can withstand the next one.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057400" y="6586180"/>
            <a:ext cx="22860" cy="637937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Text 32"/>
          <p:cNvSpPr/>
          <p:nvPr/>
        </p:nvSpPr>
        <p:spPr>
          <a:xfrm>
            <a:off x="2057400" y="7339251"/>
            <a:ext cx="10515600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AA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Mostafa Elnagar 24-101443 · Yousef Eslam 24-101303 · Ahmed Samy 24-101314 · Adham Shams 24-101192</a:t>
            </a: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Egypt University of Informatics | Data Analysis</a:t>
            </a:r>
            <a:endParaRPr lang="en-US" sz="1200" dirty="0"/>
          </a:p>
        </p:txBody>
      </p:sp>
      <p:pic>
        <p:nvPicPr>
          <p:cNvPr id="36" name="Graphic 35" descr="Bookmark with solid fill">
            <a:extLst>
              <a:ext uri="{FF2B5EF4-FFF2-40B4-BE49-F238E27FC236}">
                <a16:creationId xmlns:a16="http://schemas.microsoft.com/office/drawing/2014/main" id="{7BDFD136-E175-3764-B8A8-7C2AE7CE05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863" y="7289840"/>
            <a:ext cx="5115600" cy="511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1526</Words>
  <Application>Microsoft Office PowerPoint</Application>
  <PresentationFormat>Custom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Instrument Sans Medium</vt:lpstr>
      <vt:lpstr>Instrument Sans Light</vt:lpstr>
      <vt:lpstr>Open Sans</vt:lpstr>
      <vt:lpstr>Arial</vt:lpstr>
      <vt:lpstr>-apple-system, BlinkMacSystemFont, Segoe UI, Roboto, Helvetica Neue, Arial, sans-serif Medium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mostafa elnagar</dc:creator>
  <cp:lastModifiedBy>Mostafa Abdelfatah Mohamed Mahmoud Elnagar</cp:lastModifiedBy>
  <cp:revision>2</cp:revision>
  <dcterms:created xsi:type="dcterms:W3CDTF">2026-05-01T19:21:58Z</dcterms:created>
  <dcterms:modified xsi:type="dcterms:W3CDTF">2026-05-01T19:30:30Z</dcterms:modified>
</cp:coreProperties>
</file>